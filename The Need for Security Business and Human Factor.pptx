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Stinger Fit" charset="1" panose="00000500000000000000"/>
      <p:regular r:id="rId23"/>
    </p:embeddedFont>
    <p:embeddedFont>
      <p:font typeface="TT Firs Neue" charset="1" panose="02000503030000020004"/>
      <p:regular r:id="rId24"/>
    </p:embeddedFont>
    <p:embeddedFont>
      <p:font typeface="Stinger Fit Bold" charset="1" panose="000008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2452105" y="-5752419"/>
            <a:ext cx="6942365" cy="8264720"/>
          </a:xfrm>
          <a:custGeom>
            <a:avLst/>
            <a:gdLst/>
            <a:ahLst/>
            <a:cxnLst/>
            <a:rect r="r" b="b" t="t" l="l"/>
            <a:pathLst>
              <a:path h="8264720" w="6942365">
                <a:moveTo>
                  <a:pt x="6942365" y="8264720"/>
                </a:moveTo>
                <a:lnTo>
                  <a:pt x="0" y="8264720"/>
                </a:lnTo>
                <a:lnTo>
                  <a:pt x="0" y="0"/>
                </a:lnTo>
                <a:lnTo>
                  <a:pt x="6942365" y="0"/>
                </a:lnTo>
                <a:lnTo>
                  <a:pt x="6942365" y="82647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14938" y="-6754570"/>
            <a:ext cx="7783270" cy="7783270"/>
          </a:xfrm>
          <a:custGeom>
            <a:avLst/>
            <a:gdLst/>
            <a:ahLst/>
            <a:cxnLst/>
            <a:rect r="r" b="b" t="t" l="l"/>
            <a:pathLst>
              <a:path h="7783270" w="7783270">
                <a:moveTo>
                  <a:pt x="0" y="0"/>
                </a:moveTo>
                <a:lnTo>
                  <a:pt x="7783270" y="0"/>
                </a:lnTo>
                <a:lnTo>
                  <a:pt x="7783270" y="7783270"/>
                </a:lnTo>
                <a:lnTo>
                  <a:pt x="0" y="7783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10800000">
            <a:off x="-1434465" y="7936076"/>
            <a:ext cx="6942365" cy="8264720"/>
          </a:xfrm>
          <a:custGeom>
            <a:avLst/>
            <a:gdLst/>
            <a:ahLst/>
            <a:cxnLst/>
            <a:rect r="r" b="b" t="t" l="l"/>
            <a:pathLst>
              <a:path h="8264720" w="6942365">
                <a:moveTo>
                  <a:pt x="6942364" y="8264720"/>
                </a:moveTo>
                <a:lnTo>
                  <a:pt x="0" y="8264720"/>
                </a:lnTo>
                <a:lnTo>
                  <a:pt x="0" y="0"/>
                </a:lnTo>
                <a:lnTo>
                  <a:pt x="6942364" y="0"/>
                </a:lnTo>
                <a:lnTo>
                  <a:pt x="6942364" y="82647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938203" y="9419677"/>
            <a:ext cx="7783270" cy="7783270"/>
          </a:xfrm>
          <a:custGeom>
            <a:avLst/>
            <a:gdLst/>
            <a:ahLst/>
            <a:cxnLst/>
            <a:rect r="r" b="b" t="t" l="l"/>
            <a:pathLst>
              <a:path h="7783270" w="7783270">
                <a:moveTo>
                  <a:pt x="0" y="0"/>
                </a:moveTo>
                <a:lnTo>
                  <a:pt x="7783270" y="0"/>
                </a:lnTo>
                <a:lnTo>
                  <a:pt x="7783270" y="7783270"/>
                </a:lnTo>
                <a:lnTo>
                  <a:pt x="0" y="7783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5965137" y="8412436"/>
            <a:ext cx="4645726" cy="4645726"/>
          </a:xfrm>
          <a:custGeom>
            <a:avLst/>
            <a:gdLst/>
            <a:ahLst/>
            <a:cxnLst/>
            <a:rect r="r" b="b" t="t" l="l"/>
            <a:pathLst>
              <a:path h="4645726" w="4645726">
                <a:moveTo>
                  <a:pt x="0" y="0"/>
                </a:moveTo>
                <a:lnTo>
                  <a:pt x="4645726" y="0"/>
                </a:lnTo>
                <a:lnTo>
                  <a:pt x="4645726" y="4645726"/>
                </a:lnTo>
                <a:lnTo>
                  <a:pt x="0" y="4645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-2281014" y="-2716014"/>
            <a:ext cx="4645726" cy="4645726"/>
          </a:xfrm>
          <a:custGeom>
            <a:avLst/>
            <a:gdLst/>
            <a:ahLst/>
            <a:cxnLst/>
            <a:rect r="r" b="b" t="t" l="l"/>
            <a:pathLst>
              <a:path h="4645726" w="4645726">
                <a:moveTo>
                  <a:pt x="0" y="0"/>
                </a:moveTo>
                <a:lnTo>
                  <a:pt x="4645726" y="0"/>
                </a:lnTo>
                <a:lnTo>
                  <a:pt x="4645726" y="4645726"/>
                </a:lnTo>
                <a:lnTo>
                  <a:pt x="0" y="4645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74872" y="4473505"/>
            <a:ext cx="15784428" cy="153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0"/>
              </a:lnSpc>
            </a:pPr>
            <a:r>
              <a:rPr lang="en-US" sz="10391" spc="103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Week 3 Overview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2452105" y="-5752419"/>
            <a:ext cx="6942365" cy="8264720"/>
          </a:xfrm>
          <a:custGeom>
            <a:avLst/>
            <a:gdLst/>
            <a:ahLst/>
            <a:cxnLst/>
            <a:rect r="r" b="b" t="t" l="l"/>
            <a:pathLst>
              <a:path h="8264720" w="6942365">
                <a:moveTo>
                  <a:pt x="6942365" y="8264720"/>
                </a:moveTo>
                <a:lnTo>
                  <a:pt x="0" y="8264720"/>
                </a:lnTo>
                <a:lnTo>
                  <a:pt x="0" y="0"/>
                </a:lnTo>
                <a:lnTo>
                  <a:pt x="6942365" y="0"/>
                </a:lnTo>
                <a:lnTo>
                  <a:pt x="6942365" y="82647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14938" y="-6754570"/>
            <a:ext cx="7783270" cy="7783270"/>
          </a:xfrm>
          <a:custGeom>
            <a:avLst/>
            <a:gdLst/>
            <a:ahLst/>
            <a:cxnLst/>
            <a:rect r="r" b="b" t="t" l="l"/>
            <a:pathLst>
              <a:path h="7783270" w="7783270">
                <a:moveTo>
                  <a:pt x="0" y="0"/>
                </a:moveTo>
                <a:lnTo>
                  <a:pt x="7783270" y="0"/>
                </a:lnTo>
                <a:lnTo>
                  <a:pt x="7783270" y="7783270"/>
                </a:lnTo>
                <a:lnTo>
                  <a:pt x="0" y="7783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10800000">
            <a:off x="-1434465" y="7936076"/>
            <a:ext cx="6942365" cy="8264720"/>
          </a:xfrm>
          <a:custGeom>
            <a:avLst/>
            <a:gdLst/>
            <a:ahLst/>
            <a:cxnLst/>
            <a:rect r="r" b="b" t="t" l="l"/>
            <a:pathLst>
              <a:path h="8264720" w="6942365">
                <a:moveTo>
                  <a:pt x="6942364" y="8264720"/>
                </a:moveTo>
                <a:lnTo>
                  <a:pt x="0" y="8264720"/>
                </a:lnTo>
                <a:lnTo>
                  <a:pt x="0" y="0"/>
                </a:lnTo>
                <a:lnTo>
                  <a:pt x="6942364" y="0"/>
                </a:lnTo>
                <a:lnTo>
                  <a:pt x="6942364" y="82647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938203" y="9419677"/>
            <a:ext cx="7783270" cy="7783270"/>
          </a:xfrm>
          <a:custGeom>
            <a:avLst/>
            <a:gdLst/>
            <a:ahLst/>
            <a:cxnLst/>
            <a:rect r="r" b="b" t="t" l="l"/>
            <a:pathLst>
              <a:path h="7783270" w="7783270">
                <a:moveTo>
                  <a:pt x="0" y="0"/>
                </a:moveTo>
                <a:lnTo>
                  <a:pt x="7783270" y="0"/>
                </a:lnTo>
                <a:lnTo>
                  <a:pt x="7783270" y="7783270"/>
                </a:lnTo>
                <a:lnTo>
                  <a:pt x="0" y="7783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5965137" y="8412436"/>
            <a:ext cx="4645726" cy="4645726"/>
          </a:xfrm>
          <a:custGeom>
            <a:avLst/>
            <a:gdLst/>
            <a:ahLst/>
            <a:cxnLst/>
            <a:rect r="r" b="b" t="t" l="l"/>
            <a:pathLst>
              <a:path h="4645726" w="4645726">
                <a:moveTo>
                  <a:pt x="0" y="0"/>
                </a:moveTo>
                <a:lnTo>
                  <a:pt x="4645726" y="0"/>
                </a:lnTo>
                <a:lnTo>
                  <a:pt x="4645726" y="4645726"/>
                </a:lnTo>
                <a:lnTo>
                  <a:pt x="0" y="4645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-2281014" y="-2716014"/>
            <a:ext cx="4645726" cy="4645726"/>
          </a:xfrm>
          <a:custGeom>
            <a:avLst/>
            <a:gdLst/>
            <a:ahLst/>
            <a:cxnLst/>
            <a:rect r="r" b="b" t="t" l="l"/>
            <a:pathLst>
              <a:path h="4645726" w="4645726">
                <a:moveTo>
                  <a:pt x="0" y="0"/>
                </a:moveTo>
                <a:lnTo>
                  <a:pt x="4645726" y="0"/>
                </a:lnTo>
                <a:lnTo>
                  <a:pt x="4645726" y="4645726"/>
                </a:lnTo>
                <a:lnTo>
                  <a:pt x="0" y="4645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435483" y="576357"/>
            <a:ext cx="9417035" cy="272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9"/>
              </a:lnSpc>
            </a:pPr>
            <a:r>
              <a:rPr lang="en-US" sz="6199" spc="61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The Need for Security: Business &amp; Human Factor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53432" y="3920825"/>
            <a:ext cx="10899086" cy="368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Information security is not just a technical issue.</a:t>
            </a:r>
          </a:p>
          <a:p>
            <a:pPr algn="l">
              <a:lnSpc>
                <a:spcPts val="4900"/>
              </a:lnSpc>
            </a:pP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It affects business operations, profits, and people.</a:t>
            </a:r>
          </a:p>
          <a:p>
            <a:pPr algn="l">
              <a:lnSpc>
                <a:spcPts val="4900"/>
              </a:lnSpc>
            </a:pP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Most security failures involve human behavior, not technology.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705301" y="3907758"/>
            <a:ext cx="10040802" cy="5008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950"/>
              </a:lnSpc>
              <a:buFont typeface="Arial"/>
              <a:buChar char="•"/>
            </a:pPr>
            <a:r>
              <a:rPr lang="en-US" sz="3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Protects confidential data (customer info, passwords, finances)</a:t>
            </a:r>
          </a:p>
          <a:p>
            <a:pPr algn="l" marL="712470" indent="-356235" lvl="1">
              <a:lnSpc>
                <a:spcPts val="4950"/>
              </a:lnSpc>
              <a:buFont typeface="Arial"/>
              <a:buChar char="•"/>
            </a:pPr>
            <a:r>
              <a:rPr lang="en-US" sz="3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Prevents financial loss from cyberattacks</a:t>
            </a:r>
          </a:p>
          <a:p>
            <a:pPr algn="l" marL="712470" indent="-356235" lvl="1">
              <a:lnSpc>
                <a:spcPts val="4950"/>
              </a:lnSpc>
              <a:buFont typeface="Arial"/>
              <a:buChar char="•"/>
            </a:pPr>
            <a:r>
              <a:rPr lang="en-US" sz="3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Maintains trust of customers and partners</a:t>
            </a:r>
          </a:p>
          <a:p>
            <a:pPr algn="l" marL="712470" indent="-356235" lvl="1">
              <a:lnSpc>
                <a:spcPts val="4950"/>
              </a:lnSpc>
              <a:buFont typeface="Arial"/>
              <a:buChar char="•"/>
            </a:pPr>
            <a:r>
              <a:rPr lang="en-US" sz="3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Ensures business continuity (systems stay online)</a:t>
            </a:r>
          </a:p>
          <a:p>
            <a:pPr algn="l" marL="712470" indent="-356235" lvl="1">
              <a:lnSpc>
                <a:spcPts val="4950"/>
              </a:lnSpc>
              <a:buFont typeface="Arial"/>
              <a:buChar char="•"/>
            </a:pPr>
            <a:r>
              <a:rPr lang="en-US" sz="3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Required by laws and regulations (data privacy laws)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56189" y="1621776"/>
            <a:ext cx="8375621" cy="2000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6"/>
              </a:lnSpc>
            </a:pPr>
            <a:r>
              <a:rPr lang="en-US" sz="8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Why Do We Need Security?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620477" y="3827644"/>
            <a:ext cx="15124161" cy="490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Security seen as an expense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Examples: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          </a:t>
            </a: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Buying firewalls and antivirus software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          </a:t>
            </a: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Hiring cybersecurity staff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          </a:t>
            </a: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Training employees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No immediate profit → viewed as “cost only”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Businesses may try to minimize security spending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82752" y="1621776"/>
            <a:ext cx="9199611" cy="2000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6"/>
              </a:lnSpc>
            </a:pPr>
            <a:r>
              <a:rPr lang="en-US" sz="8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Security as a Cost Center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765216" y="1777605"/>
            <a:ext cx="10757568" cy="1783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0"/>
              </a:lnSpc>
            </a:pPr>
            <a:r>
              <a:rPr lang="en-US" sz="8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Problems with Seeing Security as a Cost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05301" y="3907758"/>
            <a:ext cx="10545615" cy="513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Leads to weak security controls</a:t>
            </a:r>
          </a:p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          </a:t>
            </a:r>
            <a:r>
              <a:rPr lang="en-US" sz="3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Higher risk of:</a:t>
            </a:r>
          </a:p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                Data breaches</a:t>
            </a:r>
          </a:p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                System downtime</a:t>
            </a:r>
          </a:p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                R</a:t>
            </a:r>
            <a:r>
              <a:rPr lang="en-US" sz="3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eputation damage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Cost of a cyberattack is often much higher than prevention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Example: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One data breach can cost millions and loss of customers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481322" y="1777605"/>
            <a:ext cx="9325355" cy="1783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0"/>
              </a:lnSpc>
            </a:pPr>
            <a:r>
              <a:rPr lang="en-US" sz="8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Secur</a:t>
            </a:r>
            <a:r>
              <a:rPr lang="en-US" sz="8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ity as a Business Enabler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05301" y="3907758"/>
            <a:ext cx="10040802" cy="5008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950"/>
              </a:lnSpc>
              <a:buFont typeface="Arial"/>
              <a:buChar char="•"/>
            </a:pPr>
            <a:r>
              <a:rPr lang="en-US" sz="3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Security helps the business operate safely and grow</a:t>
            </a:r>
          </a:p>
          <a:p>
            <a:pPr algn="l" marL="712470" indent="-356235" lvl="1">
              <a:lnSpc>
                <a:spcPts val="4950"/>
              </a:lnSpc>
              <a:buFont typeface="Arial"/>
              <a:buChar char="•"/>
            </a:pPr>
            <a:r>
              <a:rPr lang="en-US" sz="3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Enables:</a:t>
            </a:r>
          </a:p>
          <a:p>
            <a:pPr algn="l">
              <a:lnSpc>
                <a:spcPts val="4950"/>
              </a:lnSpc>
            </a:pPr>
            <a:r>
              <a:rPr lang="en-US" sz="3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          </a:t>
            </a:r>
            <a:r>
              <a:rPr lang="en-US" sz="3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Online transactions (e-commerce, banking)</a:t>
            </a:r>
          </a:p>
          <a:p>
            <a:pPr algn="l">
              <a:lnSpc>
                <a:spcPts val="4950"/>
              </a:lnSpc>
            </a:pPr>
            <a:r>
              <a:rPr lang="en-US" sz="3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          </a:t>
            </a:r>
            <a:r>
              <a:rPr lang="en-US" sz="3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Remote work</a:t>
            </a:r>
          </a:p>
          <a:p>
            <a:pPr algn="l">
              <a:lnSpc>
                <a:spcPts val="4950"/>
              </a:lnSpc>
            </a:pPr>
            <a:r>
              <a:rPr lang="en-US" sz="3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          </a:t>
            </a:r>
            <a:r>
              <a:rPr lang="en-US" sz="3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Cloud services</a:t>
            </a:r>
          </a:p>
          <a:p>
            <a:pPr algn="l" marL="712470" indent="-356235" lvl="1">
              <a:lnSpc>
                <a:spcPts val="4950"/>
              </a:lnSpc>
              <a:buFont typeface="Arial"/>
              <a:buChar char="•"/>
            </a:pPr>
            <a:r>
              <a:rPr lang="en-US" sz="3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Builds customer trust</a:t>
            </a:r>
          </a:p>
          <a:p>
            <a:pPr algn="l" marL="712470" indent="-356235" lvl="1">
              <a:lnSpc>
                <a:spcPts val="4950"/>
              </a:lnSpc>
              <a:buFont typeface="Arial"/>
              <a:buChar char="•"/>
            </a:pPr>
            <a:r>
              <a:rPr lang="en-US" sz="3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Supports long-term business success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481322" y="1777605"/>
            <a:ext cx="9325355" cy="1783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0"/>
              </a:lnSpc>
            </a:pPr>
            <a:r>
              <a:rPr lang="en-US" sz="8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How Security Enables Business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05301" y="3860133"/>
            <a:ext cx="10040802" cy="4082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5412"/>
              </a:lnSpc>
              <a:buFont typeface="Arial"/>
              <a:buChar char="•"/>
            </a:pPr>
            <a:r>
              <a:rPr lang="en-US" sz="3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Customers feel safe sharing personal data</a:t>
            </a:r>
          </a:p>
          <a:p>
            <a:pPr algn="l" marL="712470" indent="-356235" lvl="1">
              <a:lnSpc>
                <a:spcPts val="5412"/>
              </a:lnSpc>
              <a:buFont typeface="Arial"/>
              <a:buChar char="•"/>
            </a:pPr>
            <a:r>
              <a:rPr lang="en-US" sz="3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Partners trust secure systems</a:t>
            </a:r>
          </a:p>
          <a:p>
            <a:pPr algn="l" marL="712470" indent="-356235" lvl="1">
              <a:lnSpc>
                <a:spcPts val="5412"/>
              </a:lnSpc>
              <a:buFont typeface="Arial"/>
              <a:buChar char="•"/>
            </a:pPr>
            <a:r>
              <a:rPr lang="en-US" sz="3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Prevents downtime → keeps operations running</a:t>
            </a:r>
          </a:p>
          <a:p>
            <a:pPr algn="l" marL="712470" indent="-356235" lvl="1">
              <a:lnSpc>
                <a:spcPts val="5412"/>
              </a:lnSpc>
              <a:buFont typeface="Arial"/>
              <a:buChar char="•"/>
            </a:pPr>
            <a:r>
              <a:rPr lang="en-US" sz="3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Avoids legal penalties and fines</a:t>
            </a:r>
          </a:p>
          <a:p>
            <a:pPr algn="l" marL="712470" indent="-356235" lvl="1">
              <a:lnSpc>
                <a:spcPts val="5412"/>
              </a:lnSpc>
              <a:buFont typeface="Arial"/>
              <a:buChar char="•"/>
            </a:pPr>
            <a:r>
              <a:rPr lang="en-US" sz="3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Competitive advantage:</a:t>
            </a:r>
          </a:p>
          <a:p>
            <a:pPr algn="l" marL="712470" indent="-356235" lvl="1">
              <a:lnSpc>
                <a:spcPts val="5412"/>
              </a:lnSpc>
              <a:buFont typeface="Arial"/>
              <a:buChar char="•"/>
            </a:pPr>
            <a:r>
              <a:rPr lang="en-US" sz="3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“We protect your data”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953712" y="1758555"/>
            <a:ext cx="14380576" cy="1730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8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Cost Center vs Business Enabler (Comparison)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05301" y="4176563"/>
            <a:ext cx="8553703" cy="3512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3500" b="true">
                <a:solidFill>
                  <a:srgbClr val="1E344C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Cost Center View</a:t>
            </a:r>
          </a:p>
          <a:p>
            <a:pPr algn="l" marL="734059" indent="-367030" lvl="1">
              <a:lnSpc>
                <a:spcPts val="5575"/>
              </a:lnSpc>
              <a:buFont typeface="Arial"/>
              <a:buChar char="•"/>
            </a:pPr>
            <a:r>
              <a:rPr lang="en-US" sz="3399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Security is an expense</a:t>
            </a:r>
          </a:p>
          <a:p>
            <a:pPr algn="l" marL="734059" indent="-367030" lvl="1">
              <a:lnSpc>
                <a:spcPts val="5575"/>
              </a:lnSpc>
              <a:buFont typeface="Arial"/>
              <a:buChar char="•"/>
            </a:pPr>
            <a:r>
              <a:rPr lang="en-US" sz="3399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Focus on minimum cost</a:t>
            </a:r>
          </a:p>
          <a:p>
            <a:pPr algn="l" marL="734059" indent="-367030" lvl="1">
              <a:lnSpc>
                <a:spcPts val="5575"/>
              </a:lnSpc>
              <a:buFont typeface="Arial"/>
              <a:buChar char="•"/>
            </a:pPr>
            <a:r>
              <a:rPr lang="en-US" sz="3399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Reactive (after attack)</a:t>
            </a:r>
          </a:p>
          <a:p>
            <a:pPr algn="l" marL="734059" indent="-367030" lvl="1">
              <a:lnSpc>
                <a:spcPts val="5575"/>
              </a:lnSpc>
              <a:buFont typeface="Arial"/>
              <a:buChar char="•"/>
            </a:pPr>
            <a:r>
              <a:rPr lang="en-US" sz="3399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Limits innovation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4176563"/>
            <a:ext cx="8553703" cy="358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3500" b="true">
                <a:solidFill>
                  <a:srgbClr val="1E344C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Business Enabler View</a:t>
            </a:r>
          </a:p>
          <a:p>
            <a:pPr algn="l" marL="755651" indent="-377825" lvl="1">
              <a:lnSpc>
                <a:spcPts val="5740"/>
              </a:lnSpc>
              <a:buFont typeface="Arial"/>
              <a:buChar char="•"/>
            </a:pPr>
            <a:r>
              <a:rPr lang="en-US" sz="35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Security is an investment</a:t>
            </a:r>
          </a:p>
          <a:p>
            <a:pPr algn="l" marL="755651" indent="-377825" lvl="1">
              <a:lnSpc>
                <a:spcPts val="5740"/>
              </a:lnSpc>
              <a:buFont typeface="Arial"/>
              <a:buChar char="•"/>
            </a:pPr>
            <a:r>
              <a:rPr lang="en-US" sz="35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Focus on risk reduction</a:t>
            </a:r>
          </a:p>
          <a:p>
            <a:pPr algn="l" marL="755651" indent="-377825" lvl="1">
              <a:lnSpc>
                <a:spcPts val="5740"/>
              </a:lnSpc>
              <a:buFont typeface="Arial"/>
              <a:buChar char="•"/>
            </a:pPr>
            <a:r>
              <a:rPr lang="en-US" sz="35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Proactive (before attack)</a:t>
            </a:r>
          </a:p>
          <a:p>
            <a:pPr algn="l" marL="755651" indent="-377825" lvl="1">
              <a:lnSpc>
                <a:spcPts val="5740"/>
              </a:lnSpc>
              <a:buFont typeface="Arial"/>
              <a:buChar char="•"/>
            </a:pPr>
            <a:r>
              <a:rPr lang="en-US" sz="35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Enables digital growth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620477" y="3827644"/>
            <a:ext cx="15124161" cy="490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Most attacks do NOT break systems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Attackers trick people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Humans are vulnerable to: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          </a:t>
            </a: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Fear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          </a:t>
            </a: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Urgency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          </a:t>
            </a: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Curiosity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          </a:t>
            </a: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Trust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82752" y="1621776"/>
            <a:ext cx="9199611" cy="2000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6"/>
              </a:lnSpc>
            </a:pPr>
            <a:r>
              <a:rPr lang="en-US" sz="8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The Weakest Link in Security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18577" y="3053377"/>
            <a:ext cx="15124161" cy="561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A cyberattack that tricks users into giving: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          </a:t>
            </a: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Passwords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          </a:t>
            </a: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Credit card details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          </a:t>
            </a: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Personal information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Common methods: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          </a:t>
            </a: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Fake emails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          </a:t>
            </a: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Fake websites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          </a:t>
            </a: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Fake messages or calls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82752" y="1621776"/>
            <a:ext cx="9199611" cy="1038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6"/>
              </a:lnSpc>
            </a:pPr>
            <a:r>
              <a:rPr lang="en-US" sz="8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What is Phishing?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18577" y="3053377"/>
            <a:ext cx="15124161" cy="420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Email says: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          "</a:t>
            </a: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Your account will be locked in 24 hours. Click here to      verify.”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Victim clicks link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Enters login details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Attacker steals account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82752" y="1621776"/>
            <a:ext cx="9199611" cy="1038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6"/>
              </a:lnSpc>
            </a:pPr>
            <a:r>
              <a:rPr lang="en-US" sz="8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Phishing Example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18577" y="3053377"/>
            <a:ext cx="15124161" cy="420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Manipulating people to bypass security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Attacker pretends to be: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          </a:t>
            </a: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IT staff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          </a:t>
            </a: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Boss or manager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          </a:t>
            </a: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Bank or government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Goal: make victim trust and obey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2377" y="1621776"/>
            <a:ext cx="14920361" cy="1038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6"/>
              </a:lnSpc>
            </a:pPr>
            <a:r>
              <a:rPr lang="en-US" sz="8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What is Social Engineering?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18577" y="2977177"/>
            <a:ext cx="15124161" cy="475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9"/>
              </a:lnSpc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 Attackers exploit:</a:t>
            </a:r>
          </a:p>
          <a:p>
            <a:pPr algn="l" marL="863599" indent="-431800" lvl="1">
              <a:lnSpc>
                <a:spcPts val="635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Fear – “Your account is hacked!”</a:t>
            </a:r>
          </a:p>
          <a:p>
            <a:pPr algn="l" marL="863599" indent="-431800" lvl="1">
              <a:lnSpc>
                <a:spcPts val="635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Urgency – “Act now!”</a:t>
            </a:r>
          </a:p>
          <a:p>
            <a:pPr algn="l" marL="863599" indent="-431800" lvl="1">
              <a:lnSpc>
                <a:spcPts val="635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Authority – “This is your manager”</a:t>
            </a:r>
          </a:p>
          <a:p>
            <a:pPr algn="l" marL="863599" indent="-431800" lvl="1">
              <a:lnSpc>
                <a:spcPts val="635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Curiosity – “See who viewed your profile”</a:t>
            </a:r>
          </a:p>
          <a:p>
            <a:pPr algn="l" marL="863599" indent="-431800" lvl="1">
              <a:lnSpc>
                <a:spcPts val="635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Helpfulness – People want to assist others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2377" y="1621776"/>
            <a:ext cx="14920361" cy="1038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6"/>
              </a:lnSpc>
            </a:pPr>
            <a:r>
              <a:rPr lang="en-US" sz="8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Human Psychology in Attacks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90201" y="3529811"/>
            <a:ext cx="15124161" cy="440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707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Peopl</a:t>
            </a: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e make mistakes</a:t>
            </a:r>
          </a:p>
          <a:p>
            <a:pPr algn="l" marL="863599" indent="-431800" lvl="1">
              <a:lnSpc>
                <a:spcPts val="707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La</a:t>
            </a: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ck of security awareness</a:t>
            </a:r>
          </a:p>
          <a:p>
            <a:pPr algn="l" marL="863599" indent="-431800" lvl="1">
              <a:lnSpc>
                <a:spcPts val="707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Overworked or distracted employees</a:t>
            </a:r>
          </a:p>
          <a:p>
            <a:pPr algn="l" marL="863599" indent="-431800" lvl="1">
              <a:lnSpc>
                <a:spcPts val="707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Trust messages without verifying</a:t>
            </a:r>
          </a:p>
          <a:p>
            <a:pPr algn="l" marL="863599" indent="-431800" lvl="1">
              <a:lnSpc>
                <a:spcPts val="707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T</a:t>
            </a: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echnology can be strong, but humans can bypass it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2377" y="1612251"/>
            <a:ext cx="14920361" cy="1941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Why Humans Are the Weakest Link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90201" y="2900533"/>
            <a:ext cx="15124161" cy="454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731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Security awareness training</a:t>
            </a:r>
          </a:p>
          <a:p>
            <a:pPr algn="l" marL="863599" indent="-431800" lvl="1">
              <a:lnSpc>
                <a:spcPts val="731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Phishing simulations</a:t>
            </a:r>
          </a:p>
          <a:p>
            <a:pPr algn="l" marL="863599" indent="-431800" lvl="1">
              <a:lnSpc>
                <a:spcPts val="731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Clear security policies</a:t>
            </a:r>
          </a:p>
          <a:p>
            <a:pPr algn="l" marL="863599" indent="-431800" lvl="1">
              <a:lnSpc>
                <a:spcPts val="731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Multi-factor authentication (MFA)</a:t>
            </a:r>
          </a:p>
          <a:p>
            <a:pPr algn="l" marL="863599" indent="-431800" lvl="1">
              <a:lnSpc>
                <a:spcPts val="731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Encourage reporting suspicious activity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2377" y="1621776"/>
            <a:ext cx="14920361" cy="1038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6"/>
              </a:lnSpc>
            </a:pPr>
            <a:r>
              <a:rPr lang="en-US" sz="8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Reducing Human Risk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90201" y="2900533"/>
            <a:ext cx="15124161" cy="5471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731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Security is not just a cost, it enables business success</a:t>
            </a:r>
          </a:p>
          <a:p>
            <a:pPr algn="l" marL="863599" indent="-431800" lvl="1">
              <a:lnSpc>
                <a:spcPts val="731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Strong security builds trust and reliability</a:t>
            </a:r>
          </a:p>
          <a:p>
            <a:pPr algn="l" marL="863599" indent="-431800" lvl="1">
              <a:lnSpc>
                <a:spcPts val="731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Humans are often the weakest link</a:t>
            </a:r>
          </a:p>
          <a:p>
            <a:pPr algn="l" marL="863599" indent="-431800" lvl="1">
              <a:lnSpc>
                <a:spcPts val="731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Phishing and social engineering target psychology, not systems</a:t>
            </a:r>
          </a:p>
          <a:p>
            <a:pPr algn="l" marL="863599" indent="-431800" lvl="1">
              <a:lnSpc>
                <a:spcPts val="7319"/>
              </a:lnSpc>
              <a:buFont typeface="Arial"/>
              <a:buChar char="•"/>
            </a:pPr>
            <a:r>
              <a:rPr lang="en-US" sz="3999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Education and awareness are critical for security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2377" y="1621776"/>
            <a:ext cx="14920361" cy="1038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6"/>
              </a:lnSpc>
            </a:pPr>
            <a:r>
              <a:rPr lang="en-US" sz="83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Key Takeaways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-10800000">
            <a:off x="15965137" y="8412436"/>
            <a:ext cx="4645726" cy="4645726"/>
          </a:xfrm>
          <a:custGeom>
            <a:avLst/>
            <a:gdLst/>
            <a:ahLst/>
            <a:cxnLst/>
            <a:rect r="r" b="b" t="t" l="l"/>
            <a:pathLst>
              <a:path h="4645726" w="4645726">
                <a:moveTo>
                  <a:pt x="0" y="0"/>
                </a:moveTo>
                <a:lnTo>
                  <a:pt x="4645726" y="0"/>
                </a:lnTo>
                <a:lnTo>
                  <a:pt x="4645726" y="4645726"/>
                </a:lnTo>
                <a:lnTo>
                  <a:pt x="0" y="4645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2281014" y="-2716014"/>
            <a:ext cx="4645726" cy="4645726"/>
          </a:xfrm>
          <a:custGeom>
            <a:avLst/>
            <a:gdLst/>
            <a:ahLst/>
            <a:cxnLst/>
            <a:rect r="r" b="b" t="t" l="l"/>
            <a:pathLst>
              <a:path h="4645726" w="4645726">
                <a:moveTo>
                  <a:pt x="0" y="0"/>
                </a:moveTo>
                <a:lnTo>
                  <a:pt x="4645726" y="0"/>
                </a:lnTo>
                <a:lnTo>
                  <a:pt x="4645726" y="4645726"/>
                </a:lnTo>
                <a:lnTo>
                  <a:pt x="0" y="4645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406561" y="4249194"/>
            <a:ext cx="13558576" cy="2102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13"/>
              </a:lnSpc>
            </a:pPr>
            <a:r>
              <a:rPr lang="en-US" sz="14827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DAG_jyCCiao</dc:identifier>
  <dcterms:modified xsi:type="dcterms:W3CDTF">2011-08-01T06:04:30Z</dcterms:modified>
  <cp:revision>1</cp:revision>
  <dc:title>The Need for Security: Business and Human Factor</dc:title>
</cp:coreProperties>
</file>